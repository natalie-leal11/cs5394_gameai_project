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40680"/>
            <a:ext cx="9144000" cy="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40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CS5394 · ADVANCED SOFTWARE ENGINEERING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10972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Dungeon Design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4360" y="181051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C8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an AI Director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94360" y="2816352"/>
            <a:ext cx="41148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944368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procedurally generated dungeon crawler with a deterministic AI Director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adapts encounter difficulty using reinforcement learning.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Natalie Cristina Leal Blanco  ·  Maham Asif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914400"/>
            <a:ext cx="1645920" cy="777240"/>
          </a:xfrm>
          <a:prstGeom prst="rect">
            <a:avLst/>
          </a:prstGeom>
          <a:solidFill>
            <a:srgbClr val="1A1D25"/>
          </a:solidFill>
          <a:ln w="6350">
            <a:solidFill>
              <a:srgbClr val="6C8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9418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223760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1874520"/>
            <a:ext cx="1645920" cy="777240"/>
          </a:xfrm>
          <a:prstGeom prst="rect">
            <a:avLst/>
          </a:prstGeom>
          <a:solidFill>
            <a:srgbClr val="1A1D25"/>
          </a:solidFill>
          <a:ln w="6350">
            <a:solidFill>
              <a:srgbClr val="6C8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19019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23760" y="22951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2834640"/>
            <a:ext cx="1645920" cy="777240"/>
          </a:xfrm>
          <a:prstGeom prst="rect">
            <a:avLst/>
          </a:prstGeom>
          <a:solidFill>
            <a:srgbClr val="1A1D25"/>
          </a:solidFill>
          <a:ln w="6350">
            <a:solidFill>
              <a:srgbClr val="6C8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8620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223760" y="32552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Features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3794760"/>
            <a:ext cx="1645920" cy="777240"/>
          </a:xfrm>
          <a:prstGeom prst="rect">
            <a:avLst/>
          </a:prstGeom>
          <a:solidFill>
            <a:srgbClr val="1A1D25"/>
          </a:solidFill>
          <a:ln w="6350">
            <a:solidFill>
              <a:srgbClr val="6C8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82219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223760" y="4215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Actions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single-player, top-down 2D dungeon crawler with roguelike structure. Every run consists of exactly 30 rooms across 4 predefined biomes. Three independent systems handle variation, difficulty, and tuning: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2743200" cy="109728"/>
          </a:xfrm>
          <a:prstGeom prst="rect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83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bounded encounter variation. Room dimensions, milestones, and biome structure are fixed — the seed drives composition variance within those bounds.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00200"/>
            <a:ext cx="2743200" cy="10972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783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Director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64992" y="2212848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player performance across last 3 rooms and dynamically adjusts enemy count, composition, hazards, and healing availability for the next encounter.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600200"/>
            <a:ext cx="27432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783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(Offline)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5352" y="2212848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trains in headless mode to discover optimal difficulty parameter values. Runtime gameplay remains fully deterministic — RL only tunes params.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4590288"/>
            <a:ext cx="8503920" cy="393192"/>
          </a:xfrm>
          <a:prstGeom prst="rect">
            <a:avLst/>
          </a:prstGeom>
          <a:solidFill>
            <a:srgbClr val="EFF3FF"/>
          </a:solidFill>
          <a:ln w="6350">
            <a:solidFill>
              <a:srgbClr val="6C8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08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invariant: All runtime gameplay is deterministic. RL never modifies live game logic — only external parameter values in DifficultyParams.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151A"/>
          </a:solidFill>
          <a:ln w="12700">
            <a:solidFill>
              <a:srgbClr val="1A1D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BEHAVIOR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State Machine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7A7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7A7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01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2257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43784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6C8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437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attack_short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64992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6C8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649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attack_long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1280160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12801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1801368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1801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2322576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32257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2843784"/>
            <a:ext cx="1920240" cy="402336"/>
          </a:xfrm>
          <a:prstGeom prst="rect">
            <a:avLst/>
          </a:prstGeom>
          <a:solidFill>
            <a:srgbClr val="1A1D25"/>
          </a:solidFill>
          <a:ln w="889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28437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804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Chain (per-frame)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572000" y="1280160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12893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entry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12893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≤ 0 → enter death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1618488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618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active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16276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anim → inactive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1956816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956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active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19659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most states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295144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stun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23042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all input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633472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633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2642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active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0" y="2642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still allowed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2971800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29809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Block/parry drop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83680" y="29809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+ key check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3310128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3319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attack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83680" y="33192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buffer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3648456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9204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83680" y="36576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K-tap → window timer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3986784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3986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92040" y="3995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attack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83680" y="39959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 / long flag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0" y="4325112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4325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92040" y="43342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83680" y="43342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held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0" y="4663440"/>
            <a:ext cx="2743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92040" y="4672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/ idle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583680" y="4672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or fallback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020"/>
          </a:solidFill>
          <a:ln w="6350">
            <a:solidFill>
              <a:srgbClr val="6C8E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buffering: short attack queued during locking states → consumed on exit. RL agent routes through the same code path as keyboard input — zero divergence.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BEHAVIOR &amp;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EnemyBase.update() Loop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5272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exits — inactive check, anim lazy-load, flash timer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6420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Player-dead idle — AI paused; idle animation 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93976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939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211226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cooldown — tick timer each frame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2374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" y="254203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transition — hp≤0 → death anim → inactive=True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535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9718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AI — compute dx/dy to player, apply velocity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83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340156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— within engage_dist + cooldown clear → fire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813048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130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383133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slide &amp; anti-stuck — jitter (Heavy: deterministic sidestep)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242816"/>
            <a:ext cx="274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42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426110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clamp — apply pos delta; resolve player overlap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804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Enemy Roster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0" y="1234440"/>
            <a:ext cx="221284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1234440"/>
            <a:ext cx="2212848" cy="91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3624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81728" y="16916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 HP, aggressive. Closes in groups.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1234440"/>
            <a:ext cx="221284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1234440"/>
            <a:ext cx="2212848" cy="914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13624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Flanker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13448" y="16916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from angles; bypasses block.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2404872"/>
            <a:ext cx="221284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2404872"/>
            <a:ext cx="2212848" cy="91440"/>
          </a:xfrm>
          <a:prstGeom prst="rect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5328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681728" y="28620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HP, slow, heavy damage. Large hitbox.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2404872"/>
            <a:ext cx="221284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903720" y="2404872"/>
            <a:ext cx="2212848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13448" y="25328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Heavy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13448" y="28620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sidestep — reproducible for RL.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3575304"/>
            <a:ext cx="221284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3575304"/>
            <a:ext cx="2212848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37033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81728" y="40325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Projectiles from distance on cooldown.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3575304"/>
            <a:ext cx="221284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03720" y="3575304"/>
            <a:ext cx="2212848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13448" y="37033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Bosses ×4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13448" y="40325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duck-typed classes (not EnemyBase).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151A"/>
          </a:solidFill>
          <a:ln w="12700">
            <a:solidFill>
              <a:srgbClr val="1A1D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DIRECTOR — ADAPTIVE DIFFICULTY ENGINE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834640" cy="4160520"/>
          </a:xfrm>
          <a:prstGeom prst="rect">
            <a:avLst/>
          </a:prstGeom>
          <a:solidFill>
            <a:srgbClr val="1A1D25"/>
          </a:solidFill>
          <a:ln w="889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9611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MetricsTracker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at room entry/exit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taken per room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2761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counts &amp; clear times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332841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&amp; near-death events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38953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usage, hazard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6976" y="822960"/>
            <a:ext cx="2834640" cy="4160520"/>
          </a:xfrm>
          <a:prstGeom prst="rect">
            <a:avLst/>
          </a:prstGeom>
          <a:solidFill>
            <a:srgbClr val="1A1D25"/>
          </a:solidFill>
          <a:ln w="8890">
            <a:solidFill>
              <a:srgbClr val="6C8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89611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C8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C8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74136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— hp&lt;20% OR died last room OR 2-of-3 weak signals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74136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DOMINATING — hp high + clean streak + fast clears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74136" y="2761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fallback when neither applies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74136" y="332841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Last-life override → always STRUGGLING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38953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 1 rooms 1-4: onboarding (adj=0)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822960"/>
            <a:ext cx="2834640" cy="4160520"/>
          </a:xfrm>
          <a:prstGeom prst="rect">
            <a:avLst/>
          </a:prstGeom>
          <a:solidFill>
            <a:srgbClr val="1A1D25"/>
          </a:solidFill>
          <a:ln w="889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89611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AIDirector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difficulty_modifier: 0.85 / 1.0 / 1.15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enemy_adjustment: −1 / 0 / +1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761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reinforcement_chance: 5% / 10% / 25%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332841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composition_bias: lighter/normal/harder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8953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+ reward bias per state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16352" y="2286000"/>
            <a:ext cx="420624" cy="0"/>
          </a:xfrm>
          <a:prstGeom prst="line">
            <a:avLst/>
          </a:prstGeom>
          <a:noFill/>
          <a:ln w="19050">
            <a:solidFill>
              <a:srgbClr val="7A7E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7296" y="2286000"/>
            <a:ext cx="420624" cy="0"/>
          </a:xfrm>
          <a:prstGeom prst="line">
            <a:avLst/>
          </a:prstGeom>
          <a:noFill/>
          <a:ln w="19050">
            <a:solidFill>
              <a:srgbClr val="7A7E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4709160"/>
            <a:ext cx="8631936" cy="320040"/>
          </a:xfrm>
          <a:prstGeom prst="rect">
            <a:avLst/>
          </a:prstGeom>
          <a:solidFill>
            <a:srgbClr val="06101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727448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contract: No random calls inside AIDirector. Pure functions of metrics + DifficultyParams. Decisions frozen before room transition — no mid-room changes.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GENERATION &amp; DETERMINISM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Hash — derive_seed()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14800" cy="1417320"/>
          </a:xfrm>
          <a:prstGeom prst="rect">
            <a:avLst/>
          </a:prstGeom>
          <a:solidFill>
            <a:srgbClr val="1C1F2E"/>
          </a:solidFill>
          <a:ln w="6350">
            <a:solidFill>
              <a:srgbClr val="E8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derive_seed(*parts: int) -&gt; int: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0x9E3779B9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parts: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^= int(p) &amp; 0xFFFFFFFF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(x * 0x01000193) &amp; 0xFFFFFFFF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^= (len(parts) * 0x85EBCA6B) &amp; 0xFFFFFFFF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if x != 0 else 0x1A2B3C4D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Per-Room RNG: make_room_rng(room_index, channel, biome_index)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200400"/>
            <a:ext cx="1371600" cy="457200"/>
          </a:xfrm>
          <a:prstGeom prst="rect">
            <a:avLst/>
          </a:prstGeom>
          <a:solidFill>
            <a:srgbClr val="1C1F2E"/>
          </a:solidFill>
          <a:ln w="7620">
            <a:solidFill>
              <a:srgbClr val="6C8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8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run_seed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3200400"/>
            <a:ext cx="1371600" cy="457200"/>
          </a:xfrm>
          <a:prstGeom prst="rect">
            <a:avLst/>
          </a:prstGeom>
          <a:solidFill>
            <a:srgbClr val="1C1F2E"/>
          </a:solidFill>
          <a:ln w="7620">
            <a:solidFill>
              <a:srgbClr val="6C8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8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biome_index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1371600" cy="457200"/>
          </a:xfrm>
          <a:prstGeom prst="rect">
            <a:avLst/>
          </a:prstGeom>
          <a:solidFill>
            <a:srgbClr val="1C1F2E"/>
          </a:solidFill>
          <a:ln w="7620">
            <a:solidFill>
              <a:srgbClr val="6C8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8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room_index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1371600" cy="457200"/>
          </a:xfrm>
          <a:prstGeom prst="rect">
            <a:avLst/>
          </a:prstGeom>
          <a:solidFill>
            <a:srgbClr val="1C1F2E"/>
          </a:solidFill>
          <a:ln w="7620">
            <a:solidFill>
              <a:srgbClr val="6C8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8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channel_key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83080" y="3840480"/>
            <a:ext cx="1371600" cy="457200"/>
          </a:xfrm>
          <a:prstGeom prst="rect">
            <a:avLst/>
          </a:prstGeom>
          <a:solidFill>
            <a:srgbClr val="1C1F2E"/>
          </a:solidFill>
          <a:ln w="762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derive_seed()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3840480"/>
            <a:ext cx="1371600" cy="457200"/>
          </a:xfrm>
          <a:prstGeom prst="rect">
            <a:avLst/>
          </a:prstGeom>
          <a:solidFill>
            <a:srgbClr val="1C1F2E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random.Random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System (run_seed % 3)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1371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13533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173736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Heaviest composition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+ Flanker + Brute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1261872"/>
            <a:ext cx="1371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3533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73736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composition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+ Flanker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26096" y="1261872"/>
            <a:ext cx="1371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99248" y="13533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99248" y="173736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 alternates 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campaign_index %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246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Determinism Matters for RL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3657600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→ identical run every time — reproducible training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995928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evaluated across seed grids fairly (no hidden variance)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4334256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DungeonEnv.reset(seed=N) enables controlled cross-seed eval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672584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training run reproducible from its seed value alone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151A"/>
          </a:solidFill>
          <a:ln w="12700">
            <a:solidFill>
              <a:srgbClr val="1A1D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— PPO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DungeonEnv Gymnasium Wrapper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14800" cy="548640"/>
          </a:xfrm>
          <a:prstGeom prst="rect">
            <a:avLst/>
          </a:prstGeom>
          <a:solidFill>
            <a:srgbClr val="1A1D2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_rl_controlled = True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input through _rl_action int (0–16) instead of keyboard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14800" cy="548640"/>
          </a:xfrm>
          <a:prstGeom prst="rect">
            <a:avLst/>
          </a:prstGeom>
          <a:solidFill>
            <a:srgbClr val="1A1D2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568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_rl_skip_draw = True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rendering — full game logic still runs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4114800" cy="548640"/>
          </a:xfrm>
          <a:prstGeom prst="rect">
            <a:avLst/>
          </a:prstGeom>
          <a:solidFill>
            <a:srgbClr val="1A1D2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151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step(action)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8529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1 tick at dt=1/60s → (obs, reward, done, truncated, info)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36976"/>
            <a:ext cx="4114800" cy="548640"/>
          </a:xfrm>
          <a:prstGeom prst="rect">
            <a:avLst/>
          </a:prstGeom>
          <a:solidFill>
            <a:srgbClr val="1A1D2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735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reset(seed=N)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5112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Reinitializes the full run for reproducible training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Function — Priority Hierarchy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12618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1261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R_VICTORY — dungeon cleared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6276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1627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R_DEFEAT — all lives lost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19933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1993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R_LIFE_LOSS — per life lost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3591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359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R_ROOM_CLEAR — macro progress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27249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724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R_ROOM_ENTRY — forward movement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0906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R_KILL_BOSS — boss kill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34564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4564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R_KILL_NORMAL — standard enemy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3822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822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R_STEP_COST — anti-idle per tick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63440" y="41879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−0.045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4187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R_STALL — no progress 30+ seconds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0" y="45537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−0.65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4553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R_TIMEOUT — TimeLimit truncation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00D20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obs features · 17 discrete actions · PPO clip_range=0.2 · Curriculum: Biome 1 → Biomes 1–3 → Full 30-room game · Final: dungeon_ppo_final.zip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RUNTIME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920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6C8E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1920240" cy="292608"/>
          </a:xfrm>
          <a:prstGeom prst="rect">
            <a:avLst/>
          </a:prstGeom>
          <a:solidFill>
            <a:srgbClr val="6C8EFF"/>
          </a:solidFill>
          <a:ln w="12700">
            <a:solidFill>
              <a:srgbClr val="6C8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Runtime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" y="1152144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SceneManager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481328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«abstract»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BaseScene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773936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81051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GameScene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103120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139696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StartScene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432304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46888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ControlsScene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761488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798064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SettingsScene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40280" y="804672"/>
            <a:ext cx="1920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F0B42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40280" y="804672"/>
            <a:ext cx="1920240" cy="2926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822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Dungeon/Room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13432" y="1152144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RoomController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13432" y="1444752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1481328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13432" y="1773936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13432" y="181051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RoomType «enum»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13432" y="2103120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2139696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DoorSystem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13432" y="2432304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246888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Door + DoorState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13432" y="2761488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2798064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HazardSystem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97680" y="804672"/>
            <a:ext cx="192024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0" y="804672"/>
            <a:ext cx="1920240" cy="2926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822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70832" y="1152144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AIDirector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70832" y="1444752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1481328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PlayerModel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70832" y="1773936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70832" y="181051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PlayerStateClass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370832" y="2103120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2139696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MetricsTracker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70832" y="2432304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70832" y="246888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RunMetrics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370832" y="2761488"/>
            <a:ext cx="177393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798064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RoomMetrics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55080" y="804672"/>
            <a:ext cx="256032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55080" y="804672"/>
            <a:ext cx="256032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822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Core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28232" y="1152144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28232" y="1444752"/>
            <a:ext cx="241401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1481328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EnemyBase + 5 types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28232" y="1773936"/>
            <a:ext cx="241401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1810512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MiniBoss/FinalBoss*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28232" y="2103120"/>
            <a:ext cx="241401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28232" y="2139696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28232" y="2432304"/>
            <a:ext cx="241401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246888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SpawnSystem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28232" y="2761488"/>
            <a:ext cx="2414016" cy="0"/>
          </a:xfrm>
          <a:prstGeom prst="line">
            <a:avLst/>
          </a:prstGeom>
          <a:noFill/>
          <a:ln w="3810">
            <a:solidFill>
              <a:srgbClr val="E8EA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2798064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VfxManager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82880" y="326440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Relationships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82880" y="365760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GameScene → RoomController, Player, SpawnSystem, VfxManager, MetricsTracker, PlayerModel, AIDirector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82880" y="4087368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EnemyBase ◁─── Swarm, Flanker, Brute, Heavy, Ranged   ·   *MiniBoss/FinalBoss are standalone (duck-typed, not subclasses)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82880" y="451713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DungeonEnv → SceneManager &amp; GameScene   ·   Seed/RNG: module-based in game/rng.py — not a class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82880" y="4681728"/>
            <a:ext cx="8778240" cy="320040"/>
          </a:xfrm>
          <a:prstGeom prst="rect">
            <a:avLst/>
          </a:prstGeom>
          <a:solidFill>
            <a:srgbClr val="EEEEFF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700016"/>
            <a:ext cx="8503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Boundary: DungeonEnv (Gymnasium) · CurriculumWrapper · TimeoutPenaltyWrapper · TicTacToeEnv (test harness, not subclass of DungeonEnv)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151A"/>
          </a:solidFill>
          <a:ln w="12700">
            <a:solidFill>
              <a:srgbClr val="1A1D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280 TOTAL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Build Prompts (13 sequential)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52728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527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setup, pygame, config, rng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361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15453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loop &amp; SceneManager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19656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19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1828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controller (movement + dash)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031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" y="2112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attacks &amp; projectiles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86584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865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" y="23957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parry &amp; damage mitigation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70048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700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0352" y="26791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plan (30 rooms, milestones)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53512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5351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" y="29626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RoomController &amp; progression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236976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3697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" y="3246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framework &amp; 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520440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52044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0352" y="35295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spawner &amp; room battles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803904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8039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0352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Director, metrics, difficulty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087368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873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0352" y="40965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rooms, healing, pacing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370832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3708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0352" y="4379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boss, win/loss, determinism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654296"/>
            <a:ext cx="201168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6542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0352" y="46634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rendering &amp; hazards system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Agent Prompts (18-step pipeline)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1252728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125272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19472" y="126187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DungeonEnv, headless stepping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4663440" y="1467612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146761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919472" y="147675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&amp; PYTHONPATH setup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663440" y="1682496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168249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919472" y="169164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36-feature observation engineering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663440" y="1897380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189738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919472" y="190652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 v1 (win/loss + kills)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663440" y="2112264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211226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919472" y="212140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→ Discrete(17)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4663440" y="2327148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232714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919472" y="233629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training pipeline (SB3)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4663440" y="2542032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254203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919472" y="255117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TicTacToe correctness benchmark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4663440" y="2756916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275691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919472" y="276606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layout — biome stages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4663440" y="2971800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297180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919472" y="298094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wrappers &amp; eval gates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4663440" y="3186684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63440" y="318668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919472" y="319582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Step 6 (remove alive bonus)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4663440" y="3401568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340156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919472" y="341071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Step 14 (stronger progression)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4663440" y="3616452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63440" y="361645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919472" y="362559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rollout regression test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4663440" y="3831336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63440" y="383133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919472" y="384048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export &amp; offline RL tooling</a:t>
            </a:r>
            <a:endParaRPr lang="en-US" sz="880" dirty="0"/>
          </a:p>
        </p:txBody>
      </p:sp>
      <p:sp>
        <p:nvSpPr>
          <p:cNvPr id="84" name="Shape 82"/>
          <p:cNvSpPr/>
          <p:nvPr/>
        </p:nvSpPr>
        <p:spPr>
          <a:xfrm>
            <a:off x="4663440" y="4046220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63440" y="404622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19472" y="405536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evaluation utilities</a:t>
            </a:r>
            <a:endParaRPr lang="en-US" sz="880" dirty="0"/>
          </a:p>
        </p:txBody>
      </p:sp>
      <p:sp>
        <p:nvSpPr>
          <p:cNvPr id="87" name="Shape 85"/>
          <p:cNvSpPr/>
          <p:nvPr/>
        </p:nvSpPr>
        <p:spPr>
          <a:xfrm>
            <a:off x="4663440" y="4261104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63440" y="426110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919472" y="427024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&amp; checkpoints</a:t>
            </a:r>
            <a:endParaRPr lang="en-US" sz="880" dirty="0"/>
          </a:p>
        </p:txBody>
      </p:sp>
      <p:sp>
        <p:nvSpPr>
          <p:cNvPr id="90" name="Shape 88"/>
          <p:cNvSpPr/>
          <p:nvPr/>
        </p:nvSpPr>
        <p:spPr>
          <a:xfrm>
            <a:off x="4663440" y="4475988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63440" y="447598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919472" y="448513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model comparison framework</a:t>
            </a:r>
            <a:endParaRPr lang="en-US" sz="880" dirty="0"/>
          </a:p>
        </p:txBody>
      </p:sp>
      <p:sp>
        <p:nvSpPr>
          <p:cNvPr id="93" name="Shape 91"/>
          <p:cNvSpPr/>
          <p:nvPr/>
        </p:nvSpPr>
        <p:spPr>
          <a:xfrm>
            <a:off x="4663440" y="4690872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63440" y="469087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919472" y="47000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parameter tuning</a:t>
            </a:r>
            <a:endParaRPr lang="en-US" sz="880" dirty="0"/>
          </a:p>
        </p:txBody>
      </p:sp>
      <p:sp>
        <p:nvSpPr>
          <p:cNvPr id="96" name="Shape 94"/>
          <p:cNvSpPr/>
          <p:nvPr/>
        </p:nvSpPr>
        <p:spPr>
          <a:xfrm>
            <a:off x="4663440" y="4905756"/>
            <a:ext cx="20116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63440" y="49057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4919472" y="491490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curriculum merge &amp; demo run</a:t>
            </a:r>
            <a:endParaRPr lang="en-US" sz="880" dirty="0"/>
          </a:p>
        </p:txBody>
      </p:sp>
      <p:sp>
        <p:nvSpPr>
          <p:cNvPr id="99" name="Shape 97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D1020"/>
          </a:solidFill>
          <a:ln w="6350">
            <a:solidFill>
              <a:srgbClr val="F0B42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470001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prompts enforce: no hard-coded thresholds in logic · pure function decisions · RL modifies parameter values only · tests additive (never overwrite existing files)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TICTACTOE BENCHMARK SPOTLIGHT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0116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6C8E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412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804672"/>
            <a:ext cx="20116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59152" y="8412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59152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35424" y="804672"/>
            <a:ext cx="20116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35424" y="8412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35424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tests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11696" y="804672"/>
            <a:ext cx="20116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F0B42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11696" y="8412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11696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tests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" y="17373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TicTacToe — Ground-Truth PPO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" y="213055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TicTacToe is fully solved — optimal play always draws. This gives a mathematical ground-truth for PPO correctness: if the agent learns to beat random &gt;55% and never picks occupied cells after training with MaskablePPO, the PPO pipeline is verified before applying to the dungeon.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TicTacToe Test Cases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" y="3611880"/>
            <a:ext cx="182880" cy="155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611880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20624" y="3611880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test_observation_space_shape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95728" y="3611880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(9,) float32, zeros on reset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3803904"/>
            <a:ext cx="182880" cy="155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803904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20624" y="3803904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test_invalid_move_terminates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95728" y="3803904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cell → R_INVALID (−0.5), terminated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995928"/>
            <a:ext cx="182880" cy="155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3995928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0624" y="3995928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test_win_detection_row/col/diag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95728" y="3995928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win patterns → R_WIN (+1.0), outcome=='win'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2880" y="4187952"/>
            <a:ext cx="182880" cy="155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187952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20624" y="4187952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test_draw_detection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95728" y="4187952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board, no winner → R_DRAW (0.0)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" y="4379976"/>
            <a:ext cx="182880" cy="155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379976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20624" y="4379976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test_loss_when_opponent_wins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95728" y="4379976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row → R_LOSS (−1.0), terminated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2880" y="4572000"/>
            <a:ext cx="182880" cy="1554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572000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20624" y="4572000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check_env (gymnasium)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395728" y="4572000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space/reset/step compliance check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" y="4764024"/>
            <a:ext cx="182880" cy="155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764024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20624" y="4764024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test_agent_beats_random (slow)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395728" y="4764024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steps → win rate &gt;55%  ← PPO gate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2880" y="4956048"/>
            <a:ext cx="182880" cy="1554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956048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20624" y="4956048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test_never_invalid (MaskablePPO)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395728" y="4956048"/>
            <a:ext cx="199339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invalid moves guaranteed post-training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63440" y="17373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Commands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663440" y="2130552"/>
            <a:ext cx="4160520" cy="2834640"/>
          </a:xfrm>
          <a:prstGeom prst="rect">
            <a:avLst/>
          </a:prstGeom>
          <a:solidFill>
            <a:srgbClr val="1C1F2E"/>
          </a:solidFill>
          <a:ln w="6350">
            <a:solidFill>
              <a:srgbClr val="E8EA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2402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Setup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PYTHONPATH=src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tests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Best for live demo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tests/rl/test_tictactoe_env.py -v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 Director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tests/unit/test_ai_director.py -v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Seed determinism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tests/unit/test_game_rng.py -v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 slow gates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-m 'not slow'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slow PPO gates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-m slow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3151A"/>
          </a:solidFill>
          <a:ln w="12700">
            <a:solidFill>
              <a:srgbClr val="1A1D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NETWORK — ACTUAL REPOSITORY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github.com/natalie-leal11/CS5394_GameAI_Project/network  ·  Feb 2 – Apr 23  ·  Reconstructed from screenshots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95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74658" y="795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75045" y="795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974408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680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274445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4717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74495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64767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974532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4804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374583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4854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074670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64942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874770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5042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074795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65067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4858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5130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74933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205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574983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5255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075045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65317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75058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5330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75145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5417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375208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5480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975283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5555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275320" y="1005840"/>
            <a:ext cx="0" cy="73152"/>
          </a:xfrm>
          <a:prstGeom prst="line">
            <a:avLst/>
          </a:prstGeom>
          <a:noFill/>
          <a:ln w="5080">
            <a:solidFill>
              <a:srgbClr val="7A7E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65592" y="1069848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74320" y="1444752"/>
            <a:ext cx="8001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1371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02168" y="1371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2029968"/>
            <a:ext cx="8001000" cy="0"/>
          </a:xfrm>
          <a:prstGeom prst="line">
            <a:avLst/>
          </a:prstGeom>
          <a:noFill/>
          <a:ln w="19050">
            <a:solidFill>
              <a:srgbClr val="4E8F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333" y="2615184"/>
            <a:ext cx="7900988" cy="0"/>
          </a:xfrm>
          <a:prstGeom prst="line">
            <a:avLst/>
          </a:prstGeom>
          <a:noFill/>
          <a:ln w="19050">
            <a:solidFill>
              <a:srgbClr val="3DBE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4884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4897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972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500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15022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15034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1505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15072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15097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1510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15147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1515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15234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15247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15334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1535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15396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1540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15421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15496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15546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1560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15621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1570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772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15784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15847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15859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15884" y="1970532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14897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4972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14997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215009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15034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15059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15072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15097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15109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315147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15234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815334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015359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15396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15421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115496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15609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15621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15709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315772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15784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915847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15884" y="25557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4420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4420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210437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210437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74470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74470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10487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10487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74545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074545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10562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210562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74595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474595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610612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610612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174683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74683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310700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310700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074795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074795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210812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210812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74858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74858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10875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10875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574983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574983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711000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711000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175058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75058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11075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311075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475220" y="2089404"/>
            <a:ext cx="0" cy="466344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475220" y="2615184"/>
            <a:ext cx="200025" cy="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611237" y="2569464"/>
            <a:ext cx="64008" cy="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611237" y="2660904"/>
            <a:ext cx="64008" cy="-45720"/>
          </a:xfrm>
          <a:prstGeom prst="line">
            <a:avLst/>
          </a:prstGeom>
          <a:noFill/>
          <a:ln w="10160">
            <a:solidFill>
              <a:srgbClr val="4E8FE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274445" y="2615184"/>
            <a:ext cx="200025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474470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428750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520190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674495" y="2615184"/>
            <a:ext cx="200025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74520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828800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920240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274570" y="2615184"/>
            <a:ext cx="200025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74595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428875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520315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74670" y="2615184"/>
            <a:ext cx="200025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274695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228975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320415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874770" y="2615184"/>
            <a:ext cx="200025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074795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029075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120515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274820" y="2615184"/>
            <a:ext cx="300038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574858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529138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620578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174933" y="2615184"/>
            <a:ext cx="200025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374958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329238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420678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775008" y="2615184"/>
            <a:ext cx="300038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75045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029325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20765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75083" y="2615184"/>
            <a:ext cx="300038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75120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29400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720840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675245" y="2615184"/>
            <a:ext cx="300038" cy="0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975283" y="2089404"/>
            <a:ext cx="0" cy="466344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929563" y="2093976"/>
            <a:ext cx="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021003" y="2093976"/>
            <a:ext cx="-45720" cy="-64008"/>
          </a:xfrm>
          <a:prstGeom prst="line">
            <a:avLst/>
          </a:prstGeom>
          <a:noFill/>
          <a:ln w="10160">
            <a:solidFill>
              <a:srgbClr val="3DBE8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574483" y="2674620"/>
            <a:ext cx="0" cy="5257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574483" y="3200400"/>
            <a:ext cx="40005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974532" y="2674620"/>
            <a:ext cx="0" cy="5257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715072" y="3140964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919668" y="2660904"/>
            <a:ext cx="54864" cy="-45720"/>
          </a:xfrm>
          <a:prstGeom prst="line">
            <a:avLst/>
          </a:prstGeom>
          <a:noFill/>
          <a:ln w="10160">
            <a:solidFill>
              <a:srgbClr val="A855F7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029397" y="2660904"/>
            <a:ext cx="-54864" cy="-45720"/>
          </a:xfrm>
          <a:prstGeom prst="line">
            <a:avLst/>
          </a:prstGeom>
          <a:noFill/>
          <a:ln w="10160">
            <a:solidFill>
              <a:srgbClr val="A855F7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974908" y="2674620"/>
            <a:ext cx="0" cy="5257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974908" y="3200400"/>
            <a:ext cx="600075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574983" y="2674620"/>
            <a:ext cx="0" cy="5257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215509" y="3140964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520119" y="2660904"/>
            <a:ext cx="54864" cy="-45720"/>
          </a:xfrm>
          <a:prstGeom prst="line">
            <a:avLst/>
          </a:prstGeom>
          <a:noFill/>
          <a:ln w="10160">
            <a:solidFill>
              <a:srgbClr val="A855F7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629846" y="2660904"/>
            <a:ext cx="-54864" cy="-45720"/>
          </a:xfrm>
          <a:prstGeom prst="line">
            <a:avLst/>
          </a:prstGeom>
          <a:noFill/>
          <a:ln w="10160">
            <a:solidFill>
              <a:srgbClr val="A855F7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75120" y="2674620"/>
            <a:ext cx="0" cy="5257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75120" y="3200400"/>
            <a:ext cx="300038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75158" y="2674620"/>
            <a:ext cx="0" cy="5257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765703" y="3140964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920294" y="2660904"/>
            <a:ext cx="54864" cy="-45720"/>
          </a:xfrm>
          <a:prstGeom prst="line">
            <a:avLst/>
          </a:prstGeom>
          <a:noFill/>
          <a:ln w="10160">
            <a:solidFill>
              <a:srgbClr val="A855F7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30021" y="2660904"/>
            <a:ext cx="-54864" cy="-45720"/>
          </a:xfrm>
          <a:prstGeom prst="line">
            <a:avLst/>
          </a:prstGeom>
          <a:noFill/>
          <a:ln w="10160">
            <a:solidFill>
              <a:srgbClr val="A855F7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330184" y="1307592"/>
            <a:ext cx="530352" cy="274320"/>
          </a:xfrm>
          <a:prstGeom prst="rect">
            <a:avLst/>
          </a:prstGeom>
          <a:solidFill>
            <a:srgbClr val="38383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330184" y="130759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8275320" y="1517904"/>
            <a:ext cx="0" cy="512064"/>
          </a:xfrm>
          <a:prstGeom prst="line">
            <a:avLst/>
          </a:prstGeom>
          <a:noFill/>
          <a:ln w="12700">
            <a:solidFill>
              <a:srgbClr val="4E8FE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029575" y="2121408"/>
            <a:ext cx="548640" cy="256032"/>
          </a:xfrm>
          <a:prstGeom prst="rect">
            <a:avLst/>
          </a:prstGeom>
          <a:solidFill>
            <a:srgbClr val="383838"/>
          </a:solidFill>
          <a:ln w="6350">
            <a:solidFill>
              <a:srgbClr val="4E8FE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029575" y="21214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natalie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7975283" y="2706624"/>
            <a:ext cx="658368" cy="256032"/>
          </a:xfrm>
          <a:prstGeom prst="rect">
            <a:avLst/>
          </a:prstGeom>
          <a:solidFill>
            <a:srgbClr val="383838"/>
          </a:solidFill>
          <a:ln w="6350">
            <a:solidFill>
              <a:srgbClr val="3DBE8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7975283" y="27066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B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maham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274320" y="4562856"/>
            <a:ext cx="228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47472" y="4498848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530352" y="44805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(origin) — upstream default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2423160" y="4562856"/>
            <a:ext cx="228600" cy="0"/>
          </a:xfrm>
          <a:prstGeom prst="line">
            <a:avLst/>
          </a:prstGeom>
          <a:noFill/>
          <a:ln w="25400">
            <a:solidFill>
              <a:srgbClr val="4E8FE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496312" y="4498848"/>
            <a:ext cx="118872" cy="118872"/>
          </a:xfrm>
          <a:prstGeom prst="ellipse">
            <a:avLst/>
          </a:prstGeom>
          <a:solidFill>
            <a:srgbClr val="4E8FE0"/>
          </a:solidFill>
          <a:ln w="12700">
            <a:solidFill>
              <a:srgbClr val="4E8FE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679192" y="44805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natalie — blue branch commits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4572000" y="4562856"/>
            <a:ext cx="228600" cy="0"/>
          </a:xfrm>
          <a:prstGeom prst="line">
            <a:avLst/>
          </a:prstGeom>
          <a:noFill/>
          <a:ln w="25400">
            <a:solidFill>
              <a:srgbClr val="3DBE8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645152" y="4498848"/>
            <a:ext cx="118872" cy="118872"/>
          </a:xfrm>
          <a:prstGeom prst="ellipse">
            <a:avLst/>
          </a:prstGeom>
          <a:solidFill>
            <a:srgbClr val="3DBE82"/>
          </a:solidFill>
          <a:ln w="12700">
            <a:solidFill>
              <a:srgbClr val="3DBE8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828032" y="44805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B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maham — green branch commits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6720840" y="4562856"/>
            <a:ext cx="22860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793992" y="4498848"/>
            <a:ext cx="118872" cy="1188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976872" y="44805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purple branches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2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102412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594360" y="1755648"/>
            <a:ext cx="36576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9019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1920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dungeon game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148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rooms, 4 biomes, 5 enemy types, 4 boss classes, full combat FSM with input buffering, parry/block, RL-compatible input routing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2514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25328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AI Director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2761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deterministic pipeline (MetricsTracker → PlayerModel → AIDirector). Pure function decisions. Zero random calls at runtime.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12724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314553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seed system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37413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FNV-style derive_seed + per-room isolated RNG streams. Same seed → identical run. 3 variants via run_seed % 3.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73989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37581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reinforcement learning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867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DungeonEnv + SB3 PPO, 36 obs features, 17 discrete actions, curriculum training, TicTacToe ground-truth validation.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3525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60" y="43708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engineering rigor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5994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prompts, ~240 test files (unit/integration/regression/concurrency/performance/error/RL), verified class diagram.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Natalie Cristina Leal Blanco  ·  Maham Asif  ·  CS5394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Dungeon Design with an AI Director</dc:title>
  <dc:subject>PptxGenJS Presentation</dc:subject>
  <dc:creator>PptxGenJS</dc:creator>
  <cp:lastModifiedBy>PptxGenJS</cp:lastModifiedBy>
  <cp:revision>1</cp:revision>
  <dcterms:created xsi:type="dcterms:W3CDTF">2026-04-29T16:07:17Z</dcterms:created>
  <dcterms:modified xsi:type="dcterms:W3CDTF">2026-04-29T16:07:17Z</dcterms:modified>
</cp:coreProperties>
</file>